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53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6858000" cy="9144000"/>
  <p:embeddedFontLst>
    <p:embeddedFont>
      <p:font typeface="Lato"/>
    </p:embeddedFont>
    <p:embeddedFont>
      <p:font typeface="Montserrat"/>
    </p:embeddedFont>
    <p:embeddedFont>
      <p:font typeface="Lucida Sans"/>
      <p:regular r:id="rId1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font" Target="fonts/Font_1_Lucida_Sans_Regular.fntdata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;p2"/>
          <p:cNvSpPr/>
          <p:nvPr/>
        </p:nvSpPr>
        <p:spPr>
          <a:xfrm rot="5400000">
            <a:off x="7500600" y="0"/>
            <a:ext cx="1643400" cy="1643400"/>
          </a:xfrm>
          <a:prstGeom prst="diagStripe">
            <a:avLst>
              <a:gd name="adj" fmla="val 0"/>
            </a:avLst>
          </a:prstGeom>
          <a:solidFill>
            <a:schemeClr val="lt1">
              <a:alpha val="3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11;p2"/>
          <p:cNvGrpSpPr/>
          <p:nvPr/>
        </p:nvGrpSpPr>
        <p:grpSpPr>
          <a:xfrm>
            <a:off x="5760" y="-8280"/>
            <a:ext cx="5138280" cy="5152320"/>
            <a:chOff x="5760" y="-8280"/>
            <a:chExt cx="5138280" cy="5152320"/>
          </a:xfrm>
        </p:grpSpPr>
        <p:sp>
          <p:nvSpPr>
            <p:cNvPr id="4" name="Google Shape;12;p2"/>
            <p:cNvSpPr/>
            <p:nvPr/>
          </p:nvSpPr>
          <p:spPr>
            <a:xfrm rot="16200000">
              <a:off x="360" y="360"/>
              <a:ext cx="5152320" cy="513468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Google Shape;13;p2"/>
            <p:cNvSpPr/>
            <p:nvPr/>
          </p:nvSpPr>
          <p:spPr>
            <a:xfrm rot="16200000">
              <a:off x="0" y="1142280"/>
              <a:ext cx="3996360" cy="398232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Google Shape;14;p2"/>
            <p:cNvSpPr/>
            <p:nvPr/>
          </p:nvSpPr>
          <p:spPr>
            <a:xfrm rot="16200000">
              <a:off x="1800" y="720"/>
              <a:ext cx="2299320" cy="22914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Google Shape;15;p2"/>
            <p:cNvSpPr/>
            <p:nvPr/>
          </p:nvSpPr>
          <p:spPr>
            <a:xfrm flipH="1">
              <a:off x="652680" y="588240"/>
              <a:ext cx="2299680" cy="229104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>
            <a:lvl1pPr indent="0" algn="l">
              <a:buNone/>
              <a:defRPr lang="es-ES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63B040A-D2FD-4EF9-9217-64875D78DBC2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06;p11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12" name="Google Shape;107;p11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Google Shape;108;p11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Google Shape;109;p11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Google Shape;110;p11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Google Shape;111;p11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Google Shape;112;p11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Google Shape;113;p11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Google Shape;114;p11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Google Shape;115;p11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Google Shape;116;p11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Google Shape;117;p11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Google Shape;118;p11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Google Shape;119;p11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Google Shape;120;p11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Google Shape;121;p11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Google Shape;122;p11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Google Shape;123;p11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Google Shape;124;p11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" name="PlaceHolder 1"/>
          <p:cNvSpPr>
            <a:spLocks noGrp="1"/>
          </p:cNvSpPr>
          <p:nvPr>
            <p:ph type="title" hasCustomPrompt="1"/>
          </p:nvPr>
        </p:nvSpPr>
        <p:spPr>
          <a:xfrm>
            <a:off x="823680" y="1284840"/>
            <a:ext cx="477576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>
            <a:lvl1pPr indent="0" algn="l">
              <a:lnSpc>
                <a:spcPct val="100000"/>
              </a:lnSpc>
              <a:buNone/>
              <a:defRPr lang="es-E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s-ES" sz="80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xx%</a:t>
            </a:r>
            <a:endParaRPr lang="es-ES" sz="8000" b="0" u="none" strike="noStrike">
              <a:solidFill>
                <a:schemeClr val="lt1"/>
              </a:solidFill>
              <a:effectLst/>
              <a:uFillTx/>
              <a:latin typeface="Montserrat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23680" y="2643120"/>
            <a:ext cx="4775760" cy="121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62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B8EFE3D-DD68-4A6F-934E-793398B6A5C2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20;p3"/>
          <p:cNvGrpSpPr/>
          <p:nvPr/>
        </p:nvGrpSpPr>
        <p:grpSpPr>
          <a:xfrm>
            <a:off x="4406760" y="0"/>
            <a:ext cx="4737240" cy="5142960"/>
            <a:chOff x="4406760" y="0"/>
            <a:chExt cx="4737240" cy="5142960"/>
          </a:xfrm>
        </p:grpSpPr>
        <p:sp>
          <p:nvSpPr>
            <p:cNvPr id="35" name="Google Shape;21;p3"/>
            <p:cNvSpPr/>
            <p:nvPr/>
          </p:nvSpPr>
          <p:spPr>
            <a:xfrm rot="5400000">
              <a:off x="4408200" y="-1800"/>
              <a:ext cx="473364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Google Shape;22;p3"/>
            <p:cNvSpPr/>
            <p:nvPr/>
          </p:nvSpPr>
          <p:spPr>
            <a:xfrm rot="5400000">
              <a:off x="4841280" y="5400"/>
              <a:ext cx="429768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Google Shape;23;p3"/>
            <p:cNvSpPr/>
            <p:nvPr/>
          </p:nvSpPr>
          <p:spPr>
            <a:xfrm rot="16200000">
              <a:off x="5618520" y="1236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Google Shape;24;p3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Google Shape;25;p3"/>
            <p:cNvSpPr/>
            <p:nvPr/>
          </p:nvSpPr>
          <p:spPr>
            <a:xfrm rot="16200000">
              <a:off x="5987160" y="2469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Google Shape;26;p3"/>
            <p:cNvSpPr/>
            <p:nvPr/>
          </p:nvSpPr>
          <p:spPr>
            <a:xfrm flipH="1">
              <a:off x="6222240" y="267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Google Shape;27;p3"/>
            <p:cNvSpPr/>
            <p:nvPr/>
          </p:nvSpPr>
          <p:spPr>
            <a:xfrm rot="16200000">
              <a:off x="6675480" y="1862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Google Shape;28;p3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Google Shape;29;p3"/>
            <p:cNvSpPr/>
            <p:nvPr/>
          </p:nvSpPr>
          <p:spPr>
            <a:xfrm rot="16200000">
              <a:off x="6861240" y="2477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Google Shape;30;p3"/>
            <p:cNvSpPr/>
            <p:nvPr/>
          </p:nvSpPr>
          <p:spPr>
            <a:xfrm flipH="1">
              <a:off x="7965360" y="2692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Google Shape;31;p3"/>
            <p:cNvSpPr/>
            <p:nvPr/>
          </p:nvSpPr>
          <p:spPr>
            <a:xfrm flipH="1">
              <a:off x="8145000" y="33087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Google Shape;32;p3"/>
            <p:cNvSpPr/>
            <p:nvPr/>
          </p:nvSpPr>
          <p:spPr>
            <a:xfrm rot="16200000">
              <a:off x="7047720" y="30952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Google Shape;33;p3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Google Shape;34;p3"/>
            <p:cNvSpPr/>
            <p:nvPr/>
          </p:nvSpPr>
          <p:spPr>
            <a:xfrm rot="16200000">
              <a:off x="7227360" y="371088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Google Shape;35;p3"/>
            <p:cNvSpPr/>
            <p:nvPr/>
          </p:nvSpPr>
          <p:spPr>
            <a:xfrm flipH="1">
              <a:off x="7462440" y="391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Google Shape;36;p3"/>
            <p:cNvSpPr/>
            <p:nvPr/>
          </p:nvSpPr>
          <p:spPr>
            <a:xfrm rot="16200000">
              <a:off x="8102520" y="3718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Google Shape;37;p3"/>
            <p:cNvSpPr/>
            <p:nvPr/>
          </p:nvSpPr>
          <p:spPr>
            <a:xfrm flipH="1">
              <a:off x="8334360" y="39258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Google Shape;38;p3"/>
            <p:cNvSpPr/>
            <p:nvPr/>
          </p:nvSpPr>
          <p:spPr>
            <a:xfrm rot="16200000">
              <a:off x="8288280" y="43344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23680" y="2053080"/>
            <a:ext cx="4586760" cy="114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74CEE42-4A59-4C4F-BE9E-D44DA508D92A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0;p8"/>
          <p:cNvGrpSpPr/>
          <p:nvPr/>
        </p:nvGrpSpPr>
        <p:grpSpPr>
          <a:xfrm>
            <a:off x="4406760" y="0"/>
            <a:ext cx="4737240" cy="5143680"/>
            <a:chOff x="4406760" y="0"/>
            <a:chExt cx="4737240" cy="5143680"/>
          </a:xfrm>
        </p:grpSpPr>
        <p:sp>
          <p:nvSpPr>
            <p:cNvPr id="80" name="Google Shape;71;p8"/>
            <p:cNvSpPr/>
            <p:nvPr/>
          </p:nvSpPr>
          <p:spPr>
            <a:xfrm rot="5400000">
              <a:off x="4407840" y="-1440"/>
              <a:ext cx="4734360" cy="473724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Google Shape;72;p8"/>
            <p:cNvSpPr/>
            <p:nvPr/>
          </p:nvSpPr>
          <p:spPr>
            <a:xfrm rot="5400000">
              <a:off x="4840920" y="5760"/>
              <a:ext cx="4298400" cy="428652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Google Shape;73;p8"/>
            <p:cNvSpPr/>
            <p:nvPr/>
          </p:nvSpPr>
          <p:spPr>
            <a:xfrm rot="16200000">
              <a:off x="5618520" y="1236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Google Shape;74;p8"/>
            <p:cNvSpPr/>
            <p:nvPr/>
          </p:nvSpPr>
          <p:spPr>
            <a:xfrm flipH="1">
              <a:off x="5850000" y="1443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Google Shape;75;p8"/>
            <p:cNvSpPr/>
            <p:nvPr/>
          </p:nvSpPr>
          <p:spPr>
            <a:xfrm rot="16200000">
              <a:off x="5987160" y="24699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Google Shape;76;p8"/>
            <p:cNvSpPr/>
            <p:nvPr/>
          </p:nvSpPr>
          <p:spPr>
            <a:xfrm flipH="1">
              <a:off x="6222240" y="26773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Google Shape;77;p8"/>
            <p:cNvSpPr/>
            <p:nvPr/>
          </p:nvSpPr>
          <p:spPr>
            <a:xfrm rot="16200000">
              <a:off x="6675480" y="186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Google Shape;78;p8"/>
            <p:cNvSpPr/>
            <p:nvPr/>
          </p:nvSpPr>
          <p:spPr>
            <a:xfrm flipH="1">
              <a:off x="6908040" y="2069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Google Shape;79;p8"/>
            <p:cNvSpPr/>
            <p:nvPr/>
          </p:nvSpPr>
          <p:spPr>
            <a:xfrm rot="16200000">
              <a:off x="6861240" y="2478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Google Shape;80;p8"/>
            <p:cNvSpPr/>
            <p:nvPr/>
          </p:nvSpPr>
          <p:spPr>
            <a:xfrm flipH="1">
              <a:off x="7965360" y="2693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Google Shape;81;p8"/>
            <p:cNvSpPr/>
            <p:nvPr/>
          </p:nvSpPr>
          <p:spPr>
            <a:xfrm flipH="1">
              <a:off x="8145000" y="3309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Google Shape;82;p8"/>
            <p:cNvSpPr/>
            <p:nvPr/>
          </p:nvSpPr>
          <p:spPr>
            <a:xfrm rot="16200000">
              <a:off x="7047720" y="3095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Google Shape;83;p8"/>
            <p:cNvSpPr/>
            <p:nvPr/>
          </p:nvSpPr>
          <p:spPr>
            <a:xfrm flipH="1">
              <a:off x="7276680" y="33026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Google Shape;84;p8"/>
            <p:cNvSpPr/>
            <p:nvPr/>
          </p:nvSpPr>
          <p:spPr>
            <a:xfrm rot="16200000">
              <a:off x="7227360" y="3711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Google Shape;85;p8"/>
            <p:cNvSpPr/>
            <p:nvPr/>
          </p:nvSpPr>
          <p:spPr>
            <a:xfrm flipH="1">
              <a:off x="7462440" y="391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Google Shape;86;p8"/>
            <p:cNvSpPr/>
            <p:nvPr/>
          </p:nvSpPr>
          <p:spPr>
            <a:xfrm rot="16200000">
              <a:off x="8102520" y="3719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Google Shape;87;p8"/>
            <p:cNvSpPr/>
            <p:nvPr/>
          </p:nvSpPr>
          <p:spPr>
            <a:xfrm flipH="1">
              <a:off x="8334360" y="392616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Google Shape;88;p8"/>
            <p:cNvSpPr/>
            <p:nvPr/>
          </p:nvSpPr>
          <p:spPr>
            <a:xfrm rot="16200000">
              <a:off x="8288280" y="433512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23680" y="866880"/>
            <a:ext cx="4586760" cy="352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l">
              <a:buNone/>
              <a:def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ADDB5C4-168B-486E-BF21-E1987D187634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FA2F17-115A-4213-B7DF-DA9884DC6AAA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42;p4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56" name="Google Shape;43;p4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Google Shape;44;p4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3FCAB-A8EF-491D-933D-BA5AF4856DF6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49;p5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62" name="Google Shape;50;p5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Google Shape;51;p5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9744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933080" y="1567440"/>
            <a:ext cx="3402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E4BF8B7-D8C7-49B3-91F2-4413CB75E3DD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57;p6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69" name="Google Shape;58;p6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Google Shape;59;p6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61B8D9-94F8-4071-BAD1-B6C795BBE0C3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63;p7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74" name="Google Shape;64;p7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Google Shape;65;p7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3798720" cy="1492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297440" y="1972440"/>
            <a:ext cx="3798720" cy="2415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A6697C-B021-46E9-B7F0-1E3EAA9CF83F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92;p9"/>
          <p:cNvGrpSpPr/>
          <p:nvPr/>
        </p:nvGrpSpPr>
        <p:grpSpPr>
          <a:xfrm>
            <a:off x="0" y="381240"/>
            <a:ext cx="1037520" cy="1015920"/>
            <a:chOff x="0" y="381240"/>
            <a:chExt cx="1037520" cy="1015920"/>
          </a:xfrm>
        </p:grpSpPr>
        <p:sp>
          <p:nvSpPr>
            <p:cNvPr id="101" name="Google Shape;93;p9"/>
            <p:cNvSpPr/>
            <p:nvPr/>
          </p:nvSpPr>
          <p:spPr>
            <a:xfrm rot="16200000">
              <a:off x="0" y="38124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Google Shape;94;p9"/>
            <p:cNvSpPr/>
            <p:nvPr/>
          </p:nvSpPr>
          <p:spPr>
            <a:xfrm flipH="1">
              <a:off x="228960" y="588600"/>
              <a:ext cx="808560" cy="80856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297440" y="1658160"/>
            <a:ext cx="3035880" cy="17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indent="0" algn="l">
              <a:buNone/>
              <a:def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s-E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648320" y="1696680"/>
            <a:ext cx="3676320" cy="2347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104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F60DF47-98B9-4F91-B64C-3BBDB667C419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0;p10"/>
          <p:cNvGrpSpPr/>
          <p:nvPr/>
        </p:nvGrpSpPr>
        <p:grpSpPr>
          <a:xfrm>
            <a:off x="0" y="4129200"/>
            <a:ext cx="698400" cy="683640"/>
            <a:chOff x="0" y="4129200"/>
            <a:chExt cx="698400" cy="683640"/>
          </a:xfrm>
        </p:grpSpPr>
        <p:sp>
          <p:nvSpPr>
            <p:cNvPr id="107" name="Google Shape;101;p10"/>
            <p:cNvSpPr/>
            <p:nvPr/>
          </p:nvSpPr>
          <p:spPr>
            <a:xfrm rot="16200000">
              <a:off x="0" y="412920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Google Shape;102;p10"/>
            <p:cNvSpPr/>
            <p:nvPr/>
          </p:nvSpPr>
          <p:spPr>
            <a:xfrm flipH="1">
              <a:off x="154080" y="4268520"/>
              <a:ext cx="544320" cy="54432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endParaRPr lang="es-E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812880" y="4305240"/>
            <a:ext cx="6935760" cy="523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19999"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9844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9844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9844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9844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ES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D23E5D-A900-448D-85CF-4CEEC9ACF94A}" type="slidenum">
              <a:rPr lang="es" sz="10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&lt;número&gt;</a:t>
            </a:fld>
            <a:endParaRPr lang="es-ES" sz="10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537000" y="1578240"/>
            <a:ext cx="5017320" cy="157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700" b="0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Ciclo de Vida de Desarrollo de Software - </a:t>
            </a:r>
            <a:r>
              <a:rPr lang="es" sz="27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App de Búsqueda del Tesoro</a:t>
            </a:r>
            <a:endParaRPr lang="es-E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ubTitle"/>
          </p:nvPr>
        </p:nvSpPr>
        <p:spPr>
          <a:xfrm>
            <a:off x="5083920" y="3600000"/>
            <a:ext cx="3470400" cy="830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1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David Martín Ceballos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1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Alexander Rodríguez Tapia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500" b="1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Roger A. Guevara Troche</a:t>
            </a:r>
            <a:endParaRPr lang="es-E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4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Fases del Proyecto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43080" algn="l">
              <a:lnSpc>
                <a:spcPct val="115000"/>
              </a:lnSpc>
              <a:buClr>
                <a:srgbClr val="FFFFFF"/>
              </a:buClr>
              <a:buFont typeface="Lato"/>
              <a:buAutoNum type="arabicPeriod"/>
            </a:pPr>
            <a:r>
              <a:rPr lang="es" sz="18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Análisis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FFFFFF"/>
              </a:buClr>
              <a:buFont typeface="Lato"/>
              <a:buAutoNum type="arabicPeriod"/>
            </a:pPr>
            <a:r>
              <a:rPr lang="es" sz="18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Diseño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FFFFFF"/>
              </a:buClr>
              <a:buFont typeface="Lato"/>
              <a:buAutoNum type="arabicPeriod"/>
            </a:pPr>
            <a:r>
              <a:rPr lang="es" sz="18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Implementación (Codificación)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FFFFFF"/>
              </a:buClr>
              <a:buFont typeface="Lato"/>
              <a:buAutoNum type="arabicPeriod"/>
            </a:pPr>
            <a:r>
              <a:rPr lang="es" sz="18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Pruebas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FFFFFF"/>
              </a:buClr>
              <a:buFont typeface="Lato"/>
              <a:buAutoNum type="arabicPeriod"/>
            </a:pPr>
            <a:r>
              <a:rPr lang="es" sz="18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Verificación en Cliente y Explotación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 algn="l">
              <a:lnSpc>
                <a:spcPct val="115000"/>
              </a:lnSpc>
              <a:buClr>
                <a:srgbClr val="FFFFFF"/>
              </a:buClr>
              <a:buFont typeface="Lato"/>
              <a:buAutoNum type="arabicPeriod"/>
            </a:pPr>
            <a:r>
              <a:rPr lang="es" sz="1800" b="0" u="none" strike="noStrike">
                <a:solidFill>
                  <a:schemeClr val="lt1"/>
                </a:solidFill>
                <a:effectLst/>
                <a:uFillTx/>
                <a:latin typeface="Lato"/>
                <a:ea typeface="Lato"/>
              </a:rPr>
              <a:t>Mantenimiento 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4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Fase 1: Análisis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338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Definición de necesidades: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Se recopilan y especifican los requerimientos del centro educativo.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Requisitos Funcionales: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Registro de alumnos formando equipos.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Uso de la cámara del dispositivo móvil para escanear códigos QR ocultos.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Visualización de pistas o retos al escanear un QR válido.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Envío de respuestas mediante formulario o interfaz de texto.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Comprobación automática de respuestas y suma de puntos al marcador del equipo.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Requisitos No Funcionales: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Interfaz intuitiva y fácil de usar.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Respuesta rápida del sistema para evitar esperas.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●"/>
            </a:pP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Almacenamiento seguro de datos de equipos y puntuaciones.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4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Fase 2: Diseño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Diseño Arquitectónico: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Estructuración en cliente (frontend para pantallas) y servidor (backend para reglas del juego).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Diseño de Datos: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Creación de la estructura de base de datos (PostgreSQL o MySQL) para entidades clave como </a:t>
            </a: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Equipo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y </a:t>
            </a: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Código QR / Reto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Diseño de Interfaz: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Planificación de pantallas de inicio de sesión, cámara de escaneo, pistas y panel de puntuaciones en tiempo real.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15000"/>
              </a:lnSpc>
              <a:spcAft>
                <a:spcPts val="1199"/>
              </a:spcAft>
              <a:buNone/>
              <a:tabLst>
                <a:tab pos="0" algn="l"/>
              </a:tabLst>
            </a:pP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4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Fase 3: Implementación (Codificación)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Desarrollo técnico: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Programación del acceso a la cámara y lector de códigos QR.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Lógica del Backend: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Creación del sistema para recibir respuestas, compararlas con la base de datos y actualizar puntuaciones.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Selección de tecnologías: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Uso de lenguajes y herramientas adecuados para desarrollo móvil o web.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4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Fase 4: Pruebas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Pruebas unitarias: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Verificación aislada de funciones (ej. validación de cadenas de texto y cálculo de puntos).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Pruebas de integración: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Comprobación de la comunicación correcta entre la lectura del QR, el backend y la base de datos.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Pruebas del sistema: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Verificación del flujo completo de la búsqueda del tesoro sin errores.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4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Fase 5: Verificación en Cliente y Explotación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Entorno de pruebas: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Uso real en las instalaciones del instituto por profesores y un grupo piloto de alumnos.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Explotación: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Publicación oficial de la aplicación para su descarga y uso definitivo.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1297440" y="393840"/>
            <a:ext cx="7038720" cy="91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400" b="1" u="none" strike="noStrike">
                <a:solidFill>
                  <a:schemeClr val="lt1"/>
                </a:solidFill>
                <a:effectLst/>
                <a:uFillTx/>
                <a:latin typeface="Montserrat"/>
                <a:ea typeface="Montserrat"/>
              </a:rPr>
              <a:t>Fase 6: Mantenimiento 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1297440" y="1567440"/>
            <a:ext cx="7038720" cy="2910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Mantenimiento correctivo: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Solución de fallos imprevistos durante el uso real.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11040" algn="l">
              <a:lnSpc>
                <a:spcPct val="115000"/>
              </a:lnSpc>
              <a:buClr>
                <a:srgbClr val="FFFFFF"/>
              </a:buClr>
              <a:buFont typeface="Arial"/>
              <a:buChar char="-"/>
            </a:pPr>
            <a:r>
              <a:rPr lang="es" sz="1300" b="1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Mantenimiento evolutivo/perfectivo:</a:t>
            </a:r>
            <a:r>
              <a:rPr lang="es" sz="1300" b="0" u="none" strike="noStrik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 Incorporación de mejoras y nuevas funcionalidades para futuras ediciones del juego.</a:t>
            </a:r>
            <a:endParaRPr lang="es-E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LibreOffice/26.2.6.3$Windows_X86_64 LibreOffice_project/8221e31b3ac356a1623c672912a3d2b492f7e3d1</Application>
  <AppVersion>15.0000</AppVersion>
  <Words>406</Words>
  <Paragraphs>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MC</dc:creator>
  <dc:description/>
  <dc:language>es-ES</dc:language>
  <cp:lastModifiedBy/>
  <dcterms:modified xsi:type="dcterms:W3CDTF">2026-09-29T17:50:05Z</dcterms:modified>
  <cp:revision>2</cp:revision>
  <dc:subject/>
  <dc:title>Ciclo de Vida de Desarrollo de Software - App de Búsqueda del Tesoro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Presentación en pantalla (16:9)</vt:lpwstr>
  </property>
  <property fmtid="{D5CDD505-2E9C-101B-9397-08002B2CF9AE}" pid="4" name="Slides">
    <vt:i4>8</vt:i4>
  </property>
</Properties>
</file>